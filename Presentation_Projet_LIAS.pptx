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3" r:id="rId9"/>
    <p:sldId id="278" r:id="rId10"/>
    <p:sldId id="265" r:id="rId11"/>
    <p:sldId id="266" r:id="rId12"/>
    <p:sldId id="274" r:id="rId13"/>
    <p:sldId id="267" r:id="rId14"/>
    <p:sldId id="275" r:id="rId15"/>
    <p:sldId id="276" r:id="rId16"/>
    <p:sldId id="277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9D7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31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Tous les 21 modules du cahier des charges de Pr. BELANGOUR Abdessamad ont été implémentés.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91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86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24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9.png"/><Relationship Id="rId10" Type="http://schemas.openxmlformats.org/officeDocument/2006/relationships/image" Target="../media/image29.png"/><Relationship Id="rId4" Type="http://schemas.openxmlformats.org/officeDocument/2006/relationships/image" Target="../media/image6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16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image" Target="../media/image5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10" Type="http://schemas.openxmlformats.org/officeDocument/2006/relationships/image" Target="../media/image47.png"/><Relationship Id="rId4" Type="http://schemas.openxmlformats.org/officeDocument/2006/relationships/image" Target="../media/image25.png"/><Relationship Id="rId9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943600" cy="59436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337560" y="411480"/>
            <a:ext cx="515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SCIENCE &amp; BIG DATA  ·  2025 –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30120"/>
            <a:ext cx="757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Web de Gestion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Laboratoire LIAS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967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D1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>
                <a:solidFill>
                  <a:srgbClr val="D1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Faculté des Sciences Ben M'Sik, Université Hassan II de Casablanca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79576" y="465328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2011680" y="5999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11680" y="6273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SI ALI Rachida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00800" y="5999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00800" y="6273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BELANGOUR Abdessamad</a:t>
            </a:r>
            <a:endParaRPr lang="en-US" sz="16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DD1F4AA-E1DB-4D66-8542-C3311608B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" y="138430"/>
            <a:ext cx="1977016" cy="105029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7E94A0F4-796E-4B3E-B398-2CB9F2A88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212" y="133350"/>
            <a:ext cx="2146772" cy="11468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laboratoire, une gestion encore artisanale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laboratoire LIAS (Laboratoire d'Informatique et Applications Scientifiques) gère au quotidien ses membres, publications, événements et documents à l'aide d'outils dispersés : fichiers Excel, emails, documents Word.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443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traçabilité complète des décisions et activités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472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Redondances et pertes d'informations fréquentes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5020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d'activité annuel difficile à produire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4531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mémoire institutionnelle centralisée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4526280" cy="4480560"/>
          </a:xfrm>
          <a:prstGeom prst="roundRect">
            <a:avLst>
              <a:gd name="adj" fmla="val 2857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0" descr="/home/claude/lias_pptx/icons/arch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83080"/>
            <a:ext cx="548640" cy="5486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9244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constat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06640" y="2514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400" dirty="0"/>
          </a:p>
        </p:txBody>
      </p:sp>
      <p:sp>
        <p:nvSpPr>
          <p:cNvPr id="17" name="Text 14"/>
          <p:cNvSpPr/>
          <p:nvPr/>
        </p:nvSpPr>
        <p:spPr>
          <a:xfrm>
            <a:off x="7406640" y="342900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fonctionnels définis dans le cahier des charges — à couvrir intégralement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06640" y="4434840"/>
            <a:ext cx="3794760" cy="0"/>
          </a:xfrm>
          <a:prstGeom prst="line">
            <a:avLst/>
          </a:prstGeom>
          <a:noFill/>
          <a:ln w="12700">
            <a:solidFill>
              <a:srgbClr val="D8CCF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640" y="4572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7406640" y="52578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dispersés à remplacer : Excel, emails, documents Word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LIAS  ·  Master DSBD 2025-2026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l'application doit apporter au LIAS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lias_pptx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68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Centraliser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activités administratives et scientifiques du laboratoire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554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7830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lias_pptx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92024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468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53712" y="27889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décisions et activités de manière fiable et durable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554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17830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lias_pptx/icons/arch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19202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468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Capitaliser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30184" y="27889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mémoire institutionnelle : documents, événements, décisions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721608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9502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lias_pptx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08736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6360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77240" y="495604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des membres, des équipes et des responsabilités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721608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9502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lias_pptx/icons/file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087368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6360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Automatiser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53712" y="495604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production du rapport d'activité annuel obligatoire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721608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9502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lias_pptx/icons/comm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4087368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0184" y="46360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Collaborer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30184" y="495604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les échanges internes et les partenariats externes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LIAS  ·  Master DSBD 2025-2026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Acteurs du système et niveaux d'accès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332882"/>
              </p:ext>
            </p:extLst>
          </p:nvPr>
        </p:nvGraphicFramePr>
        <p:xfrm>
          <a:off x="548639" y="1874520"/>
          <a:ext cx="11117179" cy="3311502"/>
        </p:xfrm>
        <a:graphic>
          <a:graphicData uri="http://schemas.openxmlformats.org/drawingml/2006/table">
            <a:tbl>
              <a:tblPr lastRow="1"/>
              <a:tblGrid>
                <a:gridCol w="2388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4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3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3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7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Droits d'accès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7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7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3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complet + gestion système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Administrateur technique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3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DIRECTEUR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complet + validation adhésions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Directeur du laboratoire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3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VICE_DIRECTEUR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étendu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Vice-directeur en mandat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3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CHEF_EQUIPE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équipe + PV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d'équipe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2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 limitée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Collaborateur externe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3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DOCTORANT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Publications uniquement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Doctorant rattaché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FONCTIONNEL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modules regroupés en 4 grandes familles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lias_pptx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665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Membres &amp; gouvernance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Profils, adhésions, rôles, mandats, historique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29000" y="160020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03320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lias_pptx/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20665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Activité scientifique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703320" y="35661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Publications, événements, équipes, calendrier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160020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0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lias_pptx/icons/archi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0665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Administratif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83680" y="35661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conventions, matériel, PV, rapport annuel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89720" y="1600200"/>
            <a:ext cx="2697480" cy="4114800"/>
          </a:xfrm>
          <a:prstGeom prst="roundRect">
            <a:avLst>
              <a:gd name="adj" fmla="val 4068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64040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lias_pptx/icons/comm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0344" y="20665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64040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Transverse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464040" y="35661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globale, notifications, messagerie interne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LIAS  ·  Master DSBD 2025-2026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three-tier de l'application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 w="12700">
            <a:solidFill>
              <a:srgbClr val="E5E0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196596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6" name="Image 0" descr="/home/claude/lias_pptx/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50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18 + Vite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5173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 SPA</a:t>
            </a:r>
            <a:endParaRPr lang="en-US" sz="1150" dirty="0"/>
          </a:p>
        </p:txBody>
      </p:sp>
      <p:pic>
        <p:nvPicPr>
          <p:cNvPr id="11" name="Image 1" descr="/home/claude/lias_pptx/icons/arrowRight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333756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20440" y="16916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0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57700" y="196596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4" name="Image 2" descr="/home/claude/lias_pptx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148" y="212140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57600" y="2788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65760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3.5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657600" y="3520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8081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703320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Contrôleurs REST sécurisés par JWT</a:t>
            </a:r>
            <a:endParaRPr lang="en-US" sz="1150" dirty="0"/>
          </a:p>
        </p:txBody>
      </p:sp>
      <p:pic>
        <p:nvPicPr>
          <p:cNvPr id="19" name="Image 3" descr="/home/claude/lias_pptx/icons/arrowRight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3337560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355080" y="16916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 w="12700">
            <a:solidFill>
              <a:srgbClr val="E5E0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292340" y="196596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2" name="Image 4" descr="/home/claude/lias_pptx/icons/jav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788" y="212140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92240" y="2788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49224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Services + JPA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537960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applicative et transactions</a:t>
            </a:r>
            <a:endParaRPr lang="en-US" sz="1150" dirty="0"/>
          </a:p>
        </p:txBody>
      </p:sp>
      <p:pic>
        <p:nvPicPr>
          <p:cNvPr id="26" name="Image 5" descr="/home/claude/lias_pptx/icons/arrowRight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112" y="3337560"/>
            <a:ext cx="274320" cy="27432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9189720" y="16916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0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10126980" y="196596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9" name="Image 6" descr="/home/claude/lias_pptx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428" y="212140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326880" y="2788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932688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17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9326880" y="3520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5432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9372600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— base lias_db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LIAS  ·  Master DSBD 2025-2026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utilisées</a:t>
            </a:r>
            <a:endParaRPr lang="en-US" sz="3000" dirty="0"/>
          </a:p>
        </p:txBody>
      </p:sp>
      <p:pic>
        <p:nvPicPr>
          <p:cNvPr id="4" name="Image 0" descr="/home/claude/lias_pptx/icons/ja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536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94960" cy="307238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21 LTS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Langage principal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applicatif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Security 6.x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Hibernate 6.x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données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0.11.5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d'authentification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3.9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des dépendances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Image 1" descr="/home/claude/lias_pptx/icons/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50876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20840" y="1536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11680"/>
          <a:ext cx="5394960" cy="19202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1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UI SPA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5.x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 v6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 SPA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Axios 1.x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HTTP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6263640" y="41148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5"/>
          <p:cNvSpPr/>
          <p:nvPr/>
        </p:nvSpPr>
        <p:spPr>
          <a:xfrm>
            <a:off x="649224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 de développement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492240" y="4617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: Windows 11 / Ubuntu 24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: IntelliJ IDEA 2024 · VS Code 1.90+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 4 · Git + GitHub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: Maven 3.9 · Vite 5.x + npm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LIAS  ·  Master DSBD 2025-2026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F76B1523-4E24-4686-B2DA-4D3A4F0ECDE1}"/>
              </a:ext>
            </a:extLst>
          </p:cNvPr>
          <p:cNvSpPr/>
          <p:nvPr/>
        </p:nvSpPr>
        <p:spPr>
          <a:xfrm>
            <a:off x="457200" y="182880"/>
            <a:ext cx="110353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Cas d'Utilisation</a:t>
            </a:r>
            <a:endParaRPr lang="en-US" sz="26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FFC1E68-8D79-4B7D-8641-AF10FCB1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856034"/>
            <a:ext cx="11798300" cy="589496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0A21C29-3B1A-410F-990D-82B695BB202B}"/>
              </a:ext>
            </a:extLst>
          </p:cNvPr>
          <p:cNvSpPr txBox="1"/>
          <p:nvPr/>
        </p:nvSpPr>
        <p:spPr>
          <a:xfrm>
            <a:off x="315227" y="145504"/>
            <a:ext cx="60976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kern="0" spc="2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UML</a:t>
            </a:r>
            <a:endParaRPr lang="fr-FR" sz="1600"/>
          </a:p>
        </p:txBody>
      </p:sp>
    </p:spTree>
    <p:extLst>
      <p:ext uri="{BB962C8B-B14F-4D97-AF65-F5344CB8AC3E}">
        <p14:creationId xmlns:p14="http://schemas.microsoft.com/office/powerpoint/2010/main" val="825477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302619" y="-89195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 — entités principales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04800" y="71547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 lang="fr-FR" sz="13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76424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02336" y="1105621"/>
            <a:ext cx="2023872" cy="609600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Membres &amp; Profils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645664" y="71547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6624" y="76424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0" y="110562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 &amp; Mandats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86528" y="71547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76424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84064" y="110562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d'adhésion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27392" y="71547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88352" y="76424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4928" y="110562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Équipes de recherche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668256" y="71547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9216" y="76424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765792" y="110562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Publications scientifiques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04800" y="199563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04440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2336" y="2290812"/>
            <a:ext cx="2023872" cy="704569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Événements scientifiques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645664" y="199563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06624" y="204440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43200" y="238578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Archivage documentaire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86528" y="199563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04440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84064" y="238578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annuel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327392" y="199563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88352" y="204440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24928" y="238578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du matériel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668256" y="199563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29216" y="204440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9765792" y="238578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Conventions &amp; Collabs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04800" y="327579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2456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402336" y="366594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Procès-verbaux (PV)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645664" y="327579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06624" y="332456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2743200" y="366594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interne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986528" y="327579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332456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5084064" y="366594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globale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27392" y="327579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332456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7424928" y="366594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Calendrier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668256" y="327579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29216" y="332456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9765792" y="366594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04800" y="455595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60472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402336" y="494610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2" name="Shape 50"/>
          <p:cNvSpPr/>
          <p:nvPr/>
        </p:nvSpPr>
        <p:spPr>
          <a:xfrm>
            <a:off x="2645664" y="455595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06624" y="460472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2743200" y="494610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986528" y="455595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47488" y="460472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7" name="Text 55"/>
          <p:cNvSpPr/>
          <p:nvPr/>
        </p:nvSpPr>
        <p:spPr>
          <a:xfrm>
            <a:off x="5084064" y="494610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Shape 56"/>
          <p:cNvSpPr/>
          <p:nvPr/>
        </p:nvSpPr>
        <p:spPr>
          <a:xfrm>
            <a:off x="7327392" y="455595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88352" y="460472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0" name="Text 58"/>
          <p:cNvSpPr/>
          <p:nvPr/>
        </p:nvSpPr>
        <p:spPr>
          <a:xfrm>
            <a:off x="7424928" y="494610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système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668256" y="4555957"/>
            <a:ext cx="2218944" cy="1072896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29216" y="460472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9765792" y="4946101"/>
            <a:ext cx="2023872" cy="60960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PDF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4" name="Shape 62"/>
          <p:cNvSpPr/>
          <p:nvPr/>
        </p:nvSpPr>
        <p:spPr>
          <a:xfrm>
            <a:off x="304800" y="5836117"/>
            <a:ext cx="2218944" cy="839003"/>
          </a:xfrm>
          <a:prstGeom prst="roundRect">
            <a:avLst>
              <a:gd name="adj" fmla="val 6818"/>
            </a:avLst>
          </a:prstGeom>
          <a:solidFill>
            <a:srgbClr val="CCCC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5884885"/>
            <a:ext cx="463296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6" name="Text 64"/>
          <p:cNvSpPr/>
          <p:nvPr/>
        </p:nvSpPr>
        <p:spPr>
          <a:xfrm>
            <a:off x="402336" y="6226261"/>
            <a:ext cx="2023872" cy="365760"/>
          </a:xfrm>
          <a:prstGeom prst="rect">
            <a:avLst/>
          </a:prstGeom>
          <a:solidFill>
            <a:srgbClr val="CCCCFF"/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de bord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CLÉ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d'une demande d'adhésion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88955" y="1251283"/>
            <a:ext cx="2331721" cy="2196487"/>
          </a:xfrm>
          <a:prstGeom prst="roundRect">
            <a:avLst>
              <a:gd name="adj" fmla="val 3636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88957" y="143416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643337" y="12873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lias_pptx/icons/id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785" y="14428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88957" y="21103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Soumission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014086" y="2476100"/>
            <a:ext cx="2148840" cy="706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candidat remplit le formulaire en ligne (CV, motivation, type)</a:t>
            </a:r>
            <a:endParaRPr lang="en-US" sz="1100" dirty="0"/>
          </a:p>
        </p:txBody>
      </p:sp>
      <p:pic>
        <p:nvPicPr>
          <p:cNvPr id="10" name="Image 1" descr="/home/claude/lias_pptx/icons/arrowRight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109" y="2622883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40717" y="1251283"/>
            <a:ext cx="2514600" cy="2196487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723597" y="143416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487602" y="1277754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lias_pptx/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050" y="143320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33222" y="210071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733222" y="2466474"/>
            <a:ext cx="2148840" cy="71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Directeur en mandat reçoit la demande en attente</a:t>
            </a:r>
            <a:endParaRPr lang="en-US" sz="1100" dirty="0"/>
          </a:p>
        </p:txBody>
      </p:sp>
      <p:pic>
        <p:nvPicPr>
          <p:cNvPr id="17" name="Image 3" descr="/home/claude/lias_pptx/icons/arrowRight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622357" y="3601297"/>
            <a:ext cx="431212" cy="43121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603277" y="4363130"/>
            <a:ext cx="2514600" cy="2148360"/>
          </a:xfrm>
          <a:prstGeom prst="roundRect">
            <a:avLst>
              <a:gd name="adj" fmla="val 3636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3"/>
          <p:cNvSpPr/>
          <p:nvPr/>
        </p:nvSpPr>
        <p:spPr>
          <a:xfrm>
            <a:off x="4786157" y="444687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5540537" y="443484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/home/claude/lias_pptx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5985" y="459029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86157" y="5142297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786157" y="545993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Acceptation ou refus, exclusivement par le Directeur</a:t>
            </a:r>
            <a:endParaRPr lang="en-US" sz="1100" dirty="0"/>
          </a:p>
        </p:txBody>
      </p:sp>
      <p:pic>
        <p:nvPicPr>
          <p:cNvPr id="24" name="Image 5" descr="/home/claude/lias_pptx/icons/arrowRight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266397" y="5202455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1888957" y="4363130"/>
            <a:ext cx="2331720" cy="2100234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2240476" y="441944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19"/>
          <p:cNvSpPr/>
          <p:nvPr/>
        </p:nvSpPr>
        <p:spPr>
          <a:xfrm>
            <a:off x="2590374" y="4223084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6" descr="/home/claude/lias_pptx/icons/envelop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5822" y="4532537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835994" y="50460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Confirmation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1835994" y="5411804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automatique + création du compte si accepté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0B052B1B-81E9-4698-8488-6465D5F7363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3333" t="3647" r="10790" b="3435"/>
          <a:stretch/>
        </p:blipFill>
        <p:spPr>
          <a:xfrm>
            <a:off x="7392202" y="127761"/>
            <a:ext cx="4466122" cy="6549765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9F27E1B7-7077-4CA4-9876-16F481689B1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7018" t="18895" r="14963" b="2892"/>
          <a:stretch/>
        </p:blipFill>
        <p:spPr>
          <a:xfrm>
            <a:off x="-22949" y="3106683"/>
            <a:ext cx="2090170" cy="1537752"/>
          </a:xfrm>
          <a:prstGeom prst="rect">
            <a:avLst/>
          </a:prstGeom>
        </p:spPr>
      </p:pic>
      <p:cxnSp>
        <p:nvCxnSpPr>
          <p:cNvPr id="38" name="Connecteur : en arc 37">
            <a:extLst>
              <a:ext uri="{FF2B5EF4-FFF2-40B4-BE49-F238E27FC236}">
                <a16:creationId xmlns:a16="http://schemas.microsoft.com/office/drawing/2014/main" id="{34C22219-3DA3-4CE4-A593-36246877E58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268900" y="4716519"/>
            <a:ext cx="452390" cy="393433"/>
          </a:xfrm>
          <a:prstGeom prst="curvedConnector3">
            <a:avLst>
              <a:gd name="adj1" fmla="val 50000"/>
            </a:avLst>
          </a:prstGeom>
          <a:ln>
            <a:solidFill>
              <a:srgbClr val="9D74F0"/>
            </a:solidFill>
            <a:headEnd type="triangle"/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36271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d’Acceuil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Laboratoire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au portail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105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1E7E1237-CF84-4BA3-86E2-088E671FB4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240" y="1083187"/>
            <a:ext cx="3824055" cy="5116445"/>
          </a:xfrm>
          <a:prstGeom prst="rect">
            <a:avLst/>
          </a:prstGeom>
        </p:spPr>
      </p:pic>
      <p:pic>
        <p:nvPicPr>
          <p:cNvPr id="34" name="Enregistreme">
            <a:hlinkClick r:id="" action="ppaction://media"/>
            <a:extLst>
              <a:ext uri="{FF2B5EF4-FFF2-40B4-BE49-F238E27FC236}">
                <a16:creationId xmlns:a16="http://schemas.microsoft.com/office/drawing/2014/main" id="{C2619B4D-B156-4FAF-8E67-7D41C6B439F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90500" y="1409700"/>
            <a:ext cx="7509131" cy="4000500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FE5E0E45-8B8D-4821-8437-94CC488B8EEC}"/>
              </a:ext>
            </a:extLst>
          </p:cNvPr>
          <p:cNvSpPr txBox="1"/>
          <p:nvPr/>
        </p:nvSpPr>
        <p:spPr>
          <a:xfrm>
            <a:off x="9375140" y="645432"/>
            <a:ext cx="11404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5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250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91FBDBA-CE71-4F4D-B917-3AB6AC8428A2}"/>
              </a:ext>
            </a:extLst>
          </p:cNvPr>
          <p:cNvSpPr txBox="1"/>
          <p:nvPr/>
        </p:nvSpPr>
        <p:spPr>
          <a:xfrm>
            <a:off x="86627" y="341114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spc="2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633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6B78324-3072-47FF-98CE-A55ADAEC3416}"/>
              </a:ext>
            </a:extLst>
          </p:cNvPr>
          <p:cNvSpPr/>
          <p:nvPr/>
        </p:nvSpPr>
        <p:spPr>
          <a:xfrm>
            <a:off x="548640" y="263731"/>
            <a:ext cx="30030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</a:rPr>
              <a:t>Tableau de bord</a:t>
            </a:r>
            <a:endParaRPr lang="en-US" sz="3000" dirty="0"/>
          </a:p>
        </p:txBody>
      </p:sp>
      <p:pic>
        <p:nvPicPr>
          <p:cNvPr id="3" name="Enregistrement de l'écran 2026-07-06 003908">
            <a:hlinkClick r:id="" action="ppaction://media"/>
            <a:extLst>
              <a:ext uri="{FF2B5EF4-FFF2-40B4-BE49-F238E27FC236}">
                <a16:creationId xmlns:a16="http://schemas.microsoft.com/office/drawing/2014/main" id="{B5F65130-2A62-4F84-B479-CD31304F08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50" y="1025961"/>
            <a:ext cx="12179300" cy="54991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E77893C-6793-430A-B0AF-AD0A1B9D3461}"/>
              </a:ext>
            </a:extLst>
          </p:cNvPr>
          <p:cNvSpPr txBox="1"/>
          <p:nvPr/>
        </p:nvSpPr>
        <p:spPr>
          <a:xfrm>
            <a:off x="141973" y="30022"/>
            <a:ext cx="6116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spc="20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85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Membres, équipes &amp; activité scientifique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39" y="1369192"/>
            <a:ext cx="5173999" cy="2668525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340" y="1275213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6" name="Image 0" descr="/home/claude/lias_pptx/icons/id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88" y="1430661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 rot="16200000">
            <a:off x="-632460" y="2033973"/>
            <a:ext cx="2240280" cy="409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93754" y="1184226"/>
            <a:ext cx="4639983" cy="784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complet, historisation automatique des changements, filtres combinés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65526" y="1375606"/>
            <a:ext cx="5300317" cy="2701366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1485" y="1192726"/>
            <a:ext cx="521123" cy="511111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1" name="Image 1" descr="/home/claude/lias_pptx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933" y="1348174"/>
            <a:ext cx="233172" cy="2331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 rot="16200000">
            <a:off x="6003175" y="2385256"/>
            <a:ext cx="1079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Équipes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99038" y="1149546"/>
            <a:ext cx="4485621" cy="729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en équipes de recherche avec chef désigné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39" y="4227902"/>
            <a:ext cx="5173999" cy="2630098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87811" y="4008392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/home/claude/lias_pptx/icons/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259" y="41638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 rot="16200000">
            <a:off x="-663089" y="48999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42954" y="4002238"/>
            <a:ext cx="4457201" cy="83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actes de conférences, thèses — classés par auteur, année, équipe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556020" y="4227898"/>
            <a:ext cx="5409823" cy="2529038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18982" y="3915077"/>
            <a:ext cx="521123" cy="541371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1" name="Image 3" descr="/home/claude/lias_pptx/icons/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4431" y="4070526"/>
            <a:ext cx="206858" cy="206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 rot="16200000">
            <a:off x="5327578" y="481744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Événements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64924" y="3915451"/>
            <a:ext cx="4851809" cy="72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Conférences, séminaires, workshops avec participants et documents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36227300-B6AD-4FAA-B0CE-8292F2571BF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020"/>
          <a:stretch/>
        </p:blipFill>
        <p:spPr>
          <a:xfrm>
            <a:off x="750168" y="1829344"/>
            <a:ext cx="4861648" cy="2208374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FEFCCD20-066E-46C7-9DE5-7018DDEBB1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864" y="4551274"/>
            <a:ext cx="4973952" cy="2278746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4174AC59-9669-4732-8B0A-E2B487D7F6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0431" y="1640782"/>
            <a:ext cx="5232248" cy="2348783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21F0984F-429A-4795-ABE6-0B98686971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6933" y="4428413"/>
            <a:ext cx="5363045" cy="24262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564640" y="1630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Documents, adhésions, conventions &amp; matériel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3239" y="1013592"/>
            <a:ext cx="5173999" cy="2668525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1940" y="919613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 rot="16200000">
            <a:off x="-657860" y="1678373"/>
            <a:ext cx="2240280" cy="409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8354" y="828626"/>
            <a:ext cx="4639983" cy="784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centralisé, upload glisser-déposer, filtres par type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500426" y="1045406"/>
            <a:ext cx="5300317" cy="2701366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86385" y="862526"/>
            <a:ext cx="521123" cy="511111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8"/>
          <p:cNvSpPr/>
          <p:nvPr/>
        </p:nvSpPr>
        <p:spPr>
          <a:xfrm rot="16200000">
            <a:off x="5838075" y="2055056"/>
            <a:ext cx="1079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Adhésions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33938" y="819346"/>
            <a:ext cx="4485621" cy="729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réservé au Directeur, création automatique du compte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23239" y="3999302"/>
            <a:ext cx="5173999" cy="2630098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62411" y="3779792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2"/>
          <p:cNvSpPr/>
          <p:nvPr/>
        </p:nvSpPr>
        <p:spPr>
          <a:xfrm rot="16200000">
            <a:off x="-688489" y="46713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17554" y="3773638"/>
            <a:ext cx="4457201" cy="83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partenariats, alertes d'expiration à 30 jours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37982" y="3686477"/>
            <a:ext cx="521123" cy="541371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16"/>
          <p:cNvSpPr/>
          <p:nvPr/>
        </p:nvSpPr>
        <p:spPr>
          <a:xfrm rot="16200000">
            <a:off x="5035478" y="434754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Matériel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188724" y="3610651"/>
            <a:ext cx="4851809" cy="72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équipements, distribution, historique des attributions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185652" y="64358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32" name="Image 0" descr="/home/claude/lias_pptx/icons/archive.png">
            <a:extLst>
              <a:ext uri="{FF2B5EF4-FFF2-40B4-BE49-F238E27FC236}">
                <a16:creationId xmlns:a16="http://schemas.microsoft.com/office/drawing/2014/main" id="{425D0DFB-7F54-40B9-97AF-979ED2C96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48" y="1048725"/>
            <a:ext cx="292608" cy="292608"/>
          </a:xfrm>
          <a:prstGeom prst="rect">
            <a:avLst/>
          </a:prstGeom>
        </p:spPr>
      </p:pic>
      <p:pic>
        <p:nvPicPr>
          <p:cNvPr id="34" name="Image 1" descr="/home/claude/lias_pptx/icons/idCard.png">
            <a:extLst>
              <a:ext uri="{FF2B5EF4-FFF2-40B4-BE49-F238E27FC236}">
                <a16:creationId xmlns:a16="http://schemas.microsoft.com/office/drawing/2014/main" id="{7ABFAAB7-91AF-4B1B-A8B0-1C1378366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79" y="987497"/>
            <a:ext cx="292608" cy="292608"/>
          </a:xfrm>
          <a:prstGeom prst="rect">
            <a:avLst/>
          </a:prstGeom>
        </p:spPr>
      </p:pic>
      <p:pic>
        <p:nvPicPr>
          <p:cNvPr id="35" name="Image 2" descr="/home/claude/lias_pptx/icons/handshake.png">
            <a:extLst>
              <a:ext uri="{FF2B5EF4-FFF2-40B4-BE49-F238E27FC236}">
                <a16:creationId xmlns:a16="http://schemas.microsoft.com/office/drawing/2014/main" id="{740A99F3-D798-44DD-AE00-ADB642768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565" y="3909305"/>
            <a:ext cx="292608" cy="292608"/>
          </a:xfrm>
          <a:prstGeom prst="rect">
            <a:avLst/>
          </a:prstGeom>
        </p:spPr>
      </p:pic>
      <p:pic>
        <p:nvPicPr>
          <p:cNvPr id="36" name="Image 3" descr="/home/claude/lias_pptx/icons/tools.png">
            <a:extLst>
              <a:ext uri="{FF2B5EF4-FFF2-40B4-BE49-F238E27FC236}">
                <a16:creationId xmlns:a16="http://schemas.microsoft.com/office/drawing/2014/main" id="{C9C71ABD-0D22-42EF-91D2-A4EDF5862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4551" y="3813052"/>
            <a:ext cx="292608" cy="292608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2944E43D-1E49-4FFB-8C81-0E1B2C9F974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6256"/>
          <a:stretch/>
        </p:blipFill>
        <p:spPr>
          <a:xfrm>
            <a:off x="567480" y="1439988"/>
            <a:ext cx="5144159" cy="2200226"/>
          </a:xfrm>
          <a:prstGeom prst="rect">
            <a:avLst/>
          </a:prstGeom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762FF0B8-CC29-41F2-9AD5-C885E27928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5736" y="1327272"/>
            <a:ext cx="5160877" cy="2314149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3B753140-2579-493E-B396-1C10FD4251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104" y="4295997"/>
            <a:ext cx="5028008" cy="2283543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DFAAC0D3-C45B-4B50-AC5C-C7628C7B747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2330" b="4074"/>
          <a:stretch/>
        </p:blipFill>
        <p:spPr>
          <a:xfrm>
            <a:off x="6168339" y="4127500"/>
            <a:ext cx="2713662" cy="2676789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4397E856-D320-44A7-B49B-67C5077AD8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24923" y="4168640"/>
            <a:ext cx="2956490" cy="260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26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Gouvernance, traçabilité &amp; pilotage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39" y="1369192"/>
            <a:ext cx="5173999" cy="2668525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340" y="1275213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 rot="16200000">
            <a:off x="-632460" y="2033973"/>
            <a:ext cx="2240280" cy="409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 Réunions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93754" y="1184226"/>
            <a:ext cx="4639983" cy="784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du jour, upload PDF/DOC, archivage complet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65526" y="1375606"/>
            <a:ext cx="5300317" cy="2701366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1485" y="1192726"/>
            <a:ext cx="521123" cy="511111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8"/>
          <p:cNvSpPr/>
          <p:nvPr/>
        </p:nvSpPr>
        <p:spPr>
          <a:xfrm rot="16200000">
            <a:off x="6003175" y="2385256"/>
            <a:ext cx="1079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99038" y="1149546"/>
            <a:ext cx="4485621" cy="729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totale — aucune donnée supprimée définitivement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39" y="4227902"/>
            <a:ext cx="5173999" cy="2630098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87811" y="4008392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2"/>
          <p:cNvSpPr/>
          <p:nvPr/>
        </p:nvSpPr>
        <p:spPr>
          <a:xfrm rot="16200000">
            <a:off x="-663089" y="48999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22634" y="3885398"/>
            <a:ext cx="4457201" cy="83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Périodes de gouvernance Directeur, Vice-directeur, Chefs d'équipe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556020" y="4227898"/>
            <a:ext cx="5409823" cy="2529038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18982" y="4067477"/>
            <a:ext cx="521123" cy="541371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16"/>
          <p:cNvSpPr/>
          <p:nvPr/>
        </p:nvSpPr>
        <p:spPr>
          <a:xfrm rot="16200000">
            <a:off x="5327578" y="481744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annuel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64924" y="3915451"/>
            <a:ext cx="4851809" cy="72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automatique, agrégation publications/événements, export PDF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30" name="Image 0" descr="/home/claude/lias_pptx/icons/clipboard.png">
            <a:extLst>
              <a:ext uri="{FF2B5EF4-FFF2-40B4-BE49-F238E27FC236}">
                <a16:creationId xmlns:a16="http://schemas.microsoft.com/office/drawing/2014/main" id="{FB5C1BC7-E29E-41F1-AE38-B90769789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88" y="1433068"/>
            <a:ext cx="292608" cy="292608"/>
          </a:xfrm>
          <a:prstGeom prst="rect">
            <a:avLst/>
          </a:prstGeom>
        </p:spPr>
      </p:pic>
      <p:pic>
        <p:nvPicPr>
          <p:cNvPr id="32" name="Image 1" descr="/home/claude/lias_pptx/icons/chart.png">
            <a:extLst>
              <a:ext uri="{FF2B5EF4-FFF2-40B4-BE49-F238E27FC236}">
                <a16:creationId xmlns:a16="http://schemas.microsoft.com/office/drawing/2014/main" id="{1DD49B33-50C7-4C59-9287-15753373C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293368"/>
            <a:ext cx="292608" cy="292608"/>
          </a:xfrm>
          <a:prstGeom prst="rect">
            <a:avLst/>
          </a:prstGeom>
        </p:spPr>
      </p:pic>
      <p:pic>
        <p:nvPicPr>
          <p:cNvPr id="34" name="Image 2" descr="/home/claude/lias_pptx/icons/award.png">
            <a:extLst>
              <a:ext uri="{FF2B5EF4-FFF2-40B4-BE49-F238E27FC236}">
                <a16:creationId xmlns:a16="http://schemas.microsoft.com/office/drawing/2014/main" id="{22D15616-DB60-49F6-A478-4D86A8038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708" y="4150868"/>
            <a:ext cx="292608" cy="292608"/>
          </a:xfrm>
          <a:prstGeom prst="rect">
            <a:avLst/>
          </a:prstGeom>
        </p:spPr>
      </p:pic>
      <p:pic>
        <p:nvPicPr>
          <p:cNvPr id="35" name="Image 3" descr="/home/claude/lias_pptx/icons/fileAlt.png">
            <a:extLst>
              <a:ext uri="{FF2B5EF4-FFF2-40B4-BE49-F238E27FC236}">
                <a16:creationId xmlns:a16="http://schemas.microsoft.com/office/drawing/2014/main" id="{18DA0ADC-843C-4063-87C8-7803489E52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6868" y="4150868"/>
            <a:ext cx="292608" cy="292608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C2D7465F-B79E-4DBC-8B09-433B2A951C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539" y="1720710"/>
            <a:ext cx="5020537" cy="2270568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13C86886-B728-4D08-AAF8-2E91677B44A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3867" b="4074"/>
          <a:stretch/>
        </p:blipFill>
        <p:spPr>
          <a:xfrm>
            <a:off x="1358359" y="4435857"/>
            <a:ext cx="2954561" cy="2385734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39525052-4630-4F03-B0DA-A93856F6E6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6046" y="1657814"/>
            <a:ext cx="5128613" cy="2322800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0AAFA47B-39FE-435E-97BC-88295B7F31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7517" y="4384535"/>
            <a:ext cx="5287576" cy="242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41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transverses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39" y="1369192"/>
            <a:ext cx="5173999" cy="2668525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7340" y="1275213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 rot="16200000">
            <a:off x="-670052" y="2307748"/>
            <a:ext cx="2240280" cy="409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Recherche globale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93754" y="1184226"/>
            <a:ext cx="4639983" cy="784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Interrogation simultanée : membres, publications, événements, documents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65526" y="1275214"/>
            <a:ext cx="5300317" cy="2668526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1485" y="1192726"/>
            <a:ext cx="521123" cy="511111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8"/>
          <p:cNvSpPr/>
          <p:nvPr/>
        </p:nvSpPr>
        <p:spPr>
          <a:xfrm rot="16200000">
            <a:off x="6003175" y="2385256"/>
            <a:ext cx="10795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Calendrier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33938" y="1009846"/>
            <a:ext cx="4485621" cy="729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mensuelle des événements, navigation temporelle, codes couleur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39" y="4192951"/>
            <a:ext cx="5173999" cy="2630098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87811" y="4008392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2"/>
          <p:cNvSpPr/>
          <p:nvPr/>
        </p:nvSpPr>
        <p:spPr>
          <a:xfrm rot="16200000">
            <a:off x="-663089" y="48999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42954" y="3913338"/>
            <a:ext cx="4457201" cy="83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automatiques : événements, décisions d'adhésion, actions clés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556020" y="4227898"/>
            <a:ext cx="5409823" cy="2529038"/>
          </a:xfrm>
          <a:prstGeom prst="roundRect">
            <a:avLst>
              <a:gd name="adj" fmla="val 3390"/>
            </a:avLst>
          </a:prstGeom>
          <a:solidFill>
            <a:srgbClr val="F5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6282" y="4016677"/>
            <a:ext cx="521123" cy="541371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16"/>
          <p:cNvSpPr/>
          <p:nvPr/>
        </p:nvSpPr>
        <p:spPr>
          <a:xfrm rot="16200000">
            <a:off x="5327578" y="481744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Messagerie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64924" y="3915451"/>
            <a:ext cx="4851809" cy="72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Échanges directs entre membres et discussions par équipe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30" name="Image 0" descr="/home/claude/lias_pptx/icons/search.png">
            <a:extLst>
              <a:ext uri="{FF2B5EF4-FFF2-40B4-BE49-F238E27FC236}">
                <a16:creationId xmlns:a16="http://schemas.microsoft.com/office/drawing/2014/main" id="{CBE9566D-D9CC-4E2D-BB23-546D71C19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88" y="1445768"/>
            <a:ext cx="292608" cy="292608"/>
          </a:xfrm>
          <a:prstGeom prst="rect">
            <a:avLst/>
          </a:prstGeom>
        </p:spPr>
      </p:pic>
      <p:pic>
        <p:nvPicPr>
          <p:cNvPr id="32" name="Image 1" descr="/home/claude/lias_pptx/icons/calendar.png">
            <a:extLst>
              <a:ext uri="{FF2B5EF4-FFF2-40B4-BE49-F238E27FC236}">
                <a16:creationId xmlns:a16="http://schemas.microsoft.com/office/drawing/2014/main" id="{EF0B4C35-23D4-420D-B575-6C3925A70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293368"/>
            <a:ext cx="292608" cy="292608"/>
          </a:xfrm>
          <a:prstGeom prst="rect">
            <a:avLst/>
          </a:prstGeom>
        </p:spPr>
      </p:pic>
      <p:pic>
        <p:nvPicPr>
          <p:cNvPr id="34" name="Image 2" descr="/home/claude/lias_pptx/icons/bell.png">
            <a:extLst>
              <a:ext uri="{FF2B5EF4-FFF2-40B4-BE49-F238E27FC236}">
                <a16:creationId xmlns:a16="http://schemas.microsoft.com/office/drawing/2014/main" id="{C43A3767-2A1A-4C50-9610-4C531BE8C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408" y="4150868"/>
            <a:ext cx="292608" cy="292608"/>
          </a:xfrm>
          <a:prstGeom prst="rect">
            <a:avLst/>
          </a:prstGeom>
        </p:spPr>
      </p:pic>
      <p:pic>
        <p:nvPicPr>
          <p:cNvPr id="35" name="Image 3" descr="/home/claude/lias_pptx/icons/comments.png">
            <a:extLst>
              <a:ext uri="{FF2B5EF4-FFF2-40B4-BE49-F238E27FC236}">
                <a16:creationId xmlns:a16="http://schemas.microsoft.com/office/drawing/2014/main" id="{9A43C95C-38D3-437D-9FF0-0D95635AC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8768" y="4100068"/>
            <a:ext cx="292608" cy="292608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558B1C44-5893-40FE-9D78-F21002A493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663" y="1741937"/>
            <a:ext cx="5034627" cy="2282014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49DA29BE-2AFA-4473-980D-BB8FB28046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311" y="4524773"/>
            <a:ext cx="5042515" cy="2282014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CDEB4809-50BA-48F8-8E6F-AC11CCA066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439" y="1571484"/>
            <a:ext cx="5300021" cy="2405309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19E7D42A-5C63-462E-8626-1B0EC57962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1639" y="4409933"/>
            <a:ext cx="5293823" cy="241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94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 complète, prête à évoluer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1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LIAS répond intégralement aux 21 modules du cahier des charges, avec une architecture full-stack moderne et sécurisée par JWT.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d'amélioration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1810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 (Docker, Kubernetes)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10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(React Native)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959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496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vidéoconférence pour réunions virtuelles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885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avec Scopus et HAL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737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27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normalisé pour CNRST et MESRSFC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1508760"/>
            <a:ext cx="4526280" cy="4480560"/>
          </a:xfrm>
          <a:prstGeom prst="roundRect">
            <a:avLst>
              <a:gd name="adj" fmla="val 28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9" name="Image 0" descr="/home/claude/lias_pptx/icons/rocket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828800"/>
            <a:ext cx="502920" cy="5029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04672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mobilisées</a:t>
            </a:r>
            <a:endParaRPr lang="en-US" sz="1500" dirty="0"/>
          </a:p>
        </p:txBody>
      </p:sp>
      <p:pic>
        <p:nvPicPr>
          <p:cNvPr id="21" name="Image 1" descr="/home/claude/lias_pptx/icons/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606040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772400" y="2560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UML (cas d'utilisation, classes, séquence)</a:t>
            </a:r>
            <a:endParaRPr lang="en-US" sz="1200" dirty="0"/>
          </a:p>
        </p:txBody>
      </p:sp>
      <p:pic>
        <p:nvPicPr>
          <p:cNvPr id="23" name="Image 2" descr="/home/claude/lias_pptx/icons/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172968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772400" y="31272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backend Java / Spring Boot</a:t>
            </a:r>
            <a:endParaRPr lang="en-US" sz="1200" dirty="0"/>
          </a:p>
        </p:txBody>
      </p:sp>
      <p:pic>
        <p:nvPicPr>
          <p:cNvPr id="25" name="Image 3" descr="/home/claude/lias_pptx/icons/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739896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0" y="36941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frontend React</a:t>
            </a:r>
            <a:endParaRPr lang="en-US" sz="1200" dirty="0"/>
          </a:p>
        </p:txBody>
      </p:sp>
      <p:pic>
        <p:nvPicPr>
          <p:cNvPr id="27" name="Image 4" descr="/home/claude/lias_pptx/icons/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4306824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772400" y="42611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JWT &amp; Spring Security</a:t>
            </a:r>
            <a:endParaRPr lang="en-US" sz="1200" dirty="0"/>
          </a:p>
        </p:txBody>
      </p:sp>
      <p:pic>
        <p:nvPicPr>
          <p:cNvPr id="29" name="Image 5" descr="/home/claude/lias_pptx/icons/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4873752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772400" y="48280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base de données PostgreSQL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LIAS  ·  Master DSBD 2025-2026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011680"/>
            <a:ext cx="5943600" cy="59436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4160520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416052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" y="416052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LIAS  ·  AIT SI ALI Rachida  ·  Encadrant : Pr. BELANGOUR Abdessamad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986</Words>
  <Application>Microsoft Office PowerPoint</Application>
  <PresentationFormat>Grand écran</PresentationFormat>
  <Paragraphs>278</Paragraphs>
  <Slides>18</Slides>
  <Notes>16</Notes>
  <HiddenSlides>0</HiddenSlides>
  <MMClips>2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LIAS - Gestion de Laboratoire</dc:title>
  <dc:subject>PptxGenJS Presentation</dc:subject>
  <dc:creator>AIT SI ALI Rachida</dc:creator>
  <cp:lastModifiedBy>Abdellah Aitsiali</cp:lastModifiedBy>
  <cp:revision>35</cp:revision>
  <dcterms:created xsi:type="dcterms:W3CDTF">2026-07-05T21:43:08Z</dcterms:created>
  <dcterms:modified xsi:type="dcterms:W3CDTF">2026-07-06T01:21:04Z</dcterms:modified>
</cp:coreProperties>
</file>